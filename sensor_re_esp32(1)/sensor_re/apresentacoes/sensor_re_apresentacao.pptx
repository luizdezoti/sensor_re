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0F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F0F8"/>
                </a:solidFill>
                <a:latin typeface="Arial"/>
              </a:rPr>
              <a:t>Erro médio de leitura por zona (cm)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 médio (cm)</c:v>
                </c:pt>
              </c:strCache>
            </c:strRef>
          </c:tx>
          <c:spPr>
            <a:solidFill>
              <a:srgbClr val="0D9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&gt;100cm</c:v>
                  </c:pt>
                  <c:pt idx="1">
                    <c:v>80-100</c:v>
                  </c:pt>
                  <c:pt idx="2">
                    <c:v>60-80</c:v>
                  </c:pt>
                  <c:pt idx="3">
                    <c:v>40-60</c:v>
                  </c:pt>
                  <c:pt idx="4">
                    <c:v>20-40</c:v>
                  </c:pt>
                  <c:pt idx="5">
                    <c:v>&lt;20cm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2.8</c:v>
                </c:pt>
                <c:pt idx="2">
                  <c:v>2.1</c:v>
                </c:pt>
                <c:pt idx="3">
                  <c:v>1.6</c:v>
                </c:pt>
                <c:pt idx="4">
                  <c:v>1.2</c:v>
                </c:pt>
                <c:pt idx="5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F0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F0F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8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 o tema: detecção de obstáculos traseiros com 4 sensores ultrassônicos, ESP32 e display OLED.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que 1 sensor não basta. Mencione o custo acessível da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objetivos principais. Destaque a combinação de hardware (4 sensores) com firmware inteligente.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divisor resistivo: HC-SR04 entrega 5V no ECHO. Sem divisor, o GPIO do ESP32 queima.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foto da breadboard aqui. Destaque o divisor resistivo como item de segurança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fluxo: cada sensor lido → filtrado → mapeado para zona → som e display atualizados.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Frequência aumenta conforme aproximação: feedback intuitivo — quanto mais agudo e rápido, mais perigoso.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display real aqui se tiver uma foto. As barras são o diferencial visual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repositório no GitHub ao vivo. Explique que .gitkeep mantém pastas vazias rastreadas.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Substitua os valores do gráfico pelos dados reais dos seus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 sobre limitações demonstra maturidade. As melhorias mostram que o projeto tem potencial de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Agradeça. Abra para perguntas. Se possível, demonstre ao vivo com o Serial Monitor rodando.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3566160" y="22860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23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DE RÉ AUTOMOTIVO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ESP32 + 4 Sensores Ultrassônicos HC-SR04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286000" y="3703320"/>
            <a:ext cx="457200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Nome]  |  Versão 3.0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804672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cegos na traseira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3502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Colisões em manobra representam ~30% dos acidentes em estacionamentos.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8412480" cy="804672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947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dos sistemas OEM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29514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fábrica custam centenas de reais. Esta solução atinge resultado equivalente por ~R$ 80.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804672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9077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sensor não é suficiente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5526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HC-SR04 cobre apenas ~15°. Obstáculos laterais passam despercebidos.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8412480" cy="804672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867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4 sensores + ESP32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21538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total da traseira, alerta posicional e display OLED em tempo real.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do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960120"/>
            <a:ext cx="1371600" cy="182880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" y="16367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precisão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3192" y="19933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média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móvel por sensor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28800" y="960120"/>
            <a:ext cx="1371600" cy="182880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16367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sensores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874520" y="19933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traseira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10128" y="960120"/>
            <a:ext cx="1371600" cy="182880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0972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55848" y="16367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Anti-crosstalk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355848" y="19933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sequencial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sensores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91456" y="960120"/>
            <a:ext cx="1371600" cy="182880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10972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37176" y="16367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837176" y="19933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 nativo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ESP32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272784" y="960120"/>
            <a:ext cx="1371600" cy="182880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10972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18504" y="16367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OLED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318504" y="19933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posicionais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 real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754112" y="960120"/>
            <a:ext cx="1371600" cy="182880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10972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99832" y="16367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sonoro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799832" y="19933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e tom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hardware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749040"/>
        </p:xfrm>
        <a:graphic>
          <a:graphicData uri="http://schemas.openxmlformats.org/drawingml/2006/table">
            <a:tbl>
              <a:tblPr/>
              <a:tblGrid>
                <a:gridCol w="2103120"/>
                <a:gridCol w="457200"/>
                <a:gridCol w="2468880"/>
                <a:gridCol w="3383280"/>
              </a:tblGrid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Qtd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Função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Observação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 e controle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MHz, Wi-Fi, 3,3 V lógico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Medição de distância por eco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2–400 cm, 40 kHz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SSD1306 128×64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visual ao motorista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I2C, endereço 0x3C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passivo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sonoro variável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17, LEDC PWM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 1 kΩ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Divisor de tensão ECHO (topo)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V → 3,33 V (proteção)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 2 kΩ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Divisor de tensão ECHO (base)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Protege GPIO do ESP32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Pinagem — ESP32 e periféricos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5029200" cy="329184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C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Sensores HC-SR04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66344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Sensor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TRIG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ECHO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Esquerda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Centro-Esq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914400"/>
            <a:ext cx="3200400" cy="329184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0058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C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Periféricos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71600"/>
          <a:ext cx="2834640" cy="283464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Dispositivo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Pino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(PWM)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SDA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SCL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sensores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V 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 (comum)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 ESP32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0D2035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44074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Divisor resistivo obrigatório em todos os pinos ECHO:  1 kΩ (topo) + 2 kΩ (base)  →  V_out = 5 × 2/(1+2) = 3,33 V  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firmware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188720"/>
            <a:ext cx="1417320" cy="1371600"/>
          </a:xfrm>
          <a:prstGeom prst="rect">
            <a:avLst/>
          </a:prstGeom>
          <a:solidFill>
            <a:srgbClr val="0A7A65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lerDistancia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Raw(idx)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0195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ms timeout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55648" y="1847088"/>
            <a:ext cx="201168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8" name="Shape 6"/>
          <p:cNvSpPr/>
          <p:nvPr/>
        </p:nvSpPr>
        <p:spPr>
          <a:xfrm>
            <a:off x="1993392" y="1188720"/>
            <a:ext cx="1417320" cy="1371600"/>
          </a:xfrm>
          <a:prstGeom prst="rect">
            <a:avLst/>
          </a:prstGeom>
          <a:solidFill>
            <a:srgbClr val="0D9E8A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39112" y="12801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Leitura(idx)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39112" y="190195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móvel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amostras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847088"/>
            <a:ext cx="201168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66744" y="1188720"/>
            <a:ext cx="1417320" cy="1371600"/>
          </a:xfrm>
          <a:prstGeom prst="rect">
            <a:avLst/>
          </a:prstGeom>
          <a:solidFill>
            <a:srgbClr val="0B8276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12801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12464" y="190195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 → intervalo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bipe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02352" y="1847088"/>
            <a:ext cx="201168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6" name="Shape 14"/>
          <p:cNvSpPr/>
          <p:nvPr/>
        </p:nvSpPr>
        <p:spPr>
          <a:xfrm>
            <a:off x="5340096" y="1188720"/>
            <a:ext cx="1417320" cy="1371600"/>
          </a:xfrm>
          <a:prstGeom prst="rect">
            <a:avLst/>
          </a:prstGeom>
          <a:solidFill>
            <a:srgbClr val="0A6A58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85816" y="12801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gerenciar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85816" y="190195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 PWM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bloqueante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75704" y="1847088"/>
            <a:ext cx="201168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0" name="Shape 18"/>
          <p:cNvSpPr/>
          <p:nvPr/>
        </p:nvSpPr>
        <p:spPr>
          <a:xfrm>
            <a:off x="7013448" y="1188720"/>
            <a:ext cx="1417320" cy="1371600"/>
          </a:xfrm>
          <a:prstGeom prst="rect">
            <a:avLst/>
          </a:prstGeom>
          <a:solidFill>
            <a:srgbClr val="095A4A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59168" y="12801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9168" y="190195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barras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OLED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2834640"/>
            <a:ext cx="5486400" cy="640080"/>
          </a:xfrm>
          <a:prstGeom prst="rect">
            <a:avLst/>
          </a:prstGeom>
          <a:solidFill>
            <a:srgbClr val="0D2035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65960" y="291693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  —  millis() não bloqueante  |  Ciclo a cada 60 ms  |  delay(10 ms) entre sensores (anti-crosstalk)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2651760" cy="1298448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Filtro média móvel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5993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leituras espúrias. Variação ±8 cm → ±2 cm.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611880"/>
            <a:ext cx="2651760" cy="1298448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LEDC nativo ESP32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405993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ledcWriteTone() — estável, sem falhas após 30 min.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3611880"/>
            <a:ext cx="2651760" cy="1298448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7920" y="3675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Leitura sequencial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405993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ms de pausa entre sensores elimina crosstalk.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alertas — zonas de distância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41148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926080"/>
                <a:gridCol w="1828800"/>
              </a:tblGrid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Distância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Status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Cadência do bipe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Frequência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E8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LIVRE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Silêncio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80–100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SEGURO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Bipe lento (300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60–80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SEGURO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9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Bipe médio (240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1480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APROXIMAÇÃO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Bipe rápido (180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20–40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ATENÇÃO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Bipe veloz (120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ATENÇÃO MÁX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4A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Bipe super (80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1900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⚠ PERIGO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contínuo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visual — Display OLED 128×64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3200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D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display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MIN: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cm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" y="1737360"/>
            <a:ext cx="658368" cy="1645920"/>
          </a:xfrm>
          <a:prstGeom prst="rect">
            <a:avLst/>
          </a:prstGeom>
          <a:solidFill>
            <a:srgbClr val="11111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926080"/>
            <a:ext cx="658368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4381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ESQ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444752" y="1737360"/>
            <a:ext cx="658368" cy="1645920"/>
          </a:xfrm>
          <a:prstGeom prst="rect">
            <a:avLst/>
          </a:prstGeom>
          <a:solidFill>
            <a:srgbClr val="11111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2286000"/>
            <a:ext cx="658368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444752" y="34381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267712" y="1737360"/>
            <a:ext cx="658368" cy="1645920"/>
          </a:xfrm>
          <a:prstGeom prst="rect">
            <a:avLst/>
          </a:prstGeom>
          <a:solidFill>
            <a:srgbClr val="11111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7712" y="1737360"/>
            <a:ext cx="658368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267712" y="34381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090672" y="1737360"/>
            <a:ext cx="658368" cy="1645920"/>
          </a:xfrm>
          <a:prstGeom prst="rect">
            <a:avLst/>
          </a:prstGeom>
          <a:solidFill>
            <a:srgbClr val="11111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0672" y="3108960"/>
            <a:ext cx="65836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090672" y="34381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8640" y="3767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APROXIMACAO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960120"/>
            <a:ext cx="4206240" cy="86868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0515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mínima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3990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Exibida em destaque no topo esquerdo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984248"/>
            <a:ext cx="4206240" cy="86868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20756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barras posicionais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23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barra = 1 sensor. Quanto mais alta, mais perto o obstáculo.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008376"/>
            <a:ext cx="4206240" cy="86868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30998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piscante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34472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o sensor crítico (obstáculo mais próximo)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032504"/>
            <a:ext cx="4206240" cy="86868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9160" y="41239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 alerta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44714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/ SEGURO / APROXIMAÇÃO / ATENÇÃO / PERIGO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GitHub — estrutura profissional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4096512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sensor-re-esp32/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Raiz do projeto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16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firmware/sensor_re_v3/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3167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Código-fonte .ino principal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hardware/esquematicos/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Esquemáticos elétricos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938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pcb/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938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Arquivos de layout de PCB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249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simulacoes/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249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Simulações Wokwi / Proteus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Arquitetura, componentes, decisões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871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testes/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871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Plano e relatórios de teste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diagramas/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182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Blocos, fluxogramas, pinagem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apresentacoes/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Este arquivo .pptx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803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Página principal: visão geral + fotos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CHANGELOG.md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Histórico de versões v1 → v3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425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C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LICENSE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425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Licença MIT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testes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00400" cy="804672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987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Anti-crosstalk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0" y="13167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sequencial com 10 ms eliminou 100% das falsas leituras entre sensores.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1865376"/>
            <a:ext cx="3200400" cy="804672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Filtro eficaz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0" y="22677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móvel de 3 amostras reduziu variação de ±8 cm para ±2 cm.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816352"/>
            <a:ext cx="3200400" cy="804672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Tempo de resposta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0" y="3218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 (4 sensores): ~160 ms. Display atualizado a ~6 Hz.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767328"/>
            <a:ext cx="3200400" cy="804672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3840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Alarme sonoro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0" y="41696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 PWM sem falhas após 30 min de operação contínua.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melhorias futuras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97764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24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atuais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pulseIn() bloqueante por até 30 ms por sensor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Ângulo de ~15° por sensor (pontos cegos nas quinas)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2491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proteção ESD/surto para ambiente automotivo 12 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4670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log de dados ou histórico de detecções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6849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ajuste de sensibilidade por faixa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3977640"/>
          </a:xfrm>
          <a:prstGeom prst="rect">
            <a:avLst/>
          </a:prstGeom>
          <a:solidFill>
            <a:srgbClr val="162840"/>
          </a:solidFill>
          <a:ln w="10160">
            <a:solidFill>
              <a:srgbClr val="0D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C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Melhorias futuras (v4.0)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por ISR (interrupção) → fim do bloqueio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extra nos cantos → cobertura 180°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72491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TVS + filtro LC para 12 V automotivo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34670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Transmissão Wi-Fi → app mobile em tempo 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96849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de ré integrada via ESP32-CAM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3749040" y="18288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286000" y="2395728"/>
            <a:ext cx="457200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25786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sensores HC-SR04 com cobertura total da traseira do veículo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30358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Leitura sequencial anti-crosstalk + filtro de média móvel por sensor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34930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Alarme LEDC PWM e display OLED com barras posicionais em tempo real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39502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Código modular, documentado e organizado em repositório profissional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44074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 sólida para evolução: ISR, Wi-Fi, câmera, proteção automotiva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0" y="4800600"/>
            <a:ext cx="457200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9011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github.com/[seu-usuario]/sensor-re-esp32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de Ré Automotivo com ESP32</dc:title>
  <dc:subject>PptxGenJS Presentation</dc:subject>
  <dc:creator>Seu Nome</dc:creator>
  <cp:lastModifiedBy>Seu Nome</cp:lastModifiedBy>
  <cp:revision>1</cp:revision>
  <dcterms:created xsi:type="dcterms:W3CDTF">2026-06-28T14:09:40Z</dcterms:created>
  <dcterms:modified xsi:type="dcterms:W3CDTF">2026-06-28T14:09:40Z</dcterms:modified>
</cp:coreProperties>
</file>